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CSC51 • Week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Period 1: List: collection of data</a:t>
            </a:r>
          </a:p>
          <a:p>
            <a:r>
              <a:t>Period 2: Sorting list</a:t>
            </a:r>
          </a:p>
          <a:p>
            <a:r>
              <a:t>Grade 10 ADV</a:t>
            </a:r>
          </a:p>
          <a:p>
            <a:r>
              <a:t>Grounded with PythonTutorial.pdf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A4A"/>
                </a:solidFill>
              </a:rPr>
              <a:t>Lesson Focus: Nested Lists and Indexing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What are nested lists?</a:t>
            </a:r>
          </a:p>
          <a:p>
            <a:pPr>
              <a:spcAft>
                <a:spcPts val="1000"/>
              </a:spcAft>
              <a:defRPr sz="2000"/>
            </a:pPr>
            <a:r>
              <a:t>How do positive and negative indices work?</a:t>
            </a:r>
          </a:p>
          <a:p>
            <a:pPr>
              <a:spcAft>
                <a:spcPts val="1000"/>
              </a:spcAft>
              <a:defRPr sz="2000"/>
            </a:pPr>
            <a:r>
              <a:t>How can we change lists?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CSC51 • Week 1 •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A4A"/>
                </a:solidFill>
              </a:rPr>
              <a:t>Nested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 list can contain other lists</a:t>
            </a:r>
          </a:p>
          <a:p>
            <a:pPr>
              <a:spcAft>
                <a:spcPts val="1000"/>
              </a:spcAft>
              <a:defRPr sz="2000"/>
            </a:pPr>
            <a:r>
              <a:t>Example: [[1, 2], [3, 4]]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37960" y="1417320"/>
            <a:ext cx="5074920" cy="685800"/>
          </a:xfrm>
          <a:prstGeom prst="roundRect">
            <a:avLst/>
          </a:prstGeom>
          <a:solidFill>
            <a:srgbClr val="F2F6FC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E1E1E"/>
                </a:solidFill>
              </a:rPr>
              <a:t>Outer list: [ [1, 2], [3, 4]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2212848"/>
            <a:ext cx="5074920" cy="685800"/>
          </a:xfrm>
          <a:prstGeom prst="roundRect">
            <a:avLst/>
          </a:prstGeom>
          <a:solidFill>
            <a:srgbClr val="F2F6FC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E1E1E"/>
                </a:solidFill>
              </a:rPr>
              <a:t>Inner list 1: [1, 2]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3008376"/>
            <a:ext cx="5074920" cy="685800"/>
          </a:xfrm>
          <a:prstGeom prst="roundRect">
            <a:avLst/>
          </a:prstGeom>
          <a:solidFill>
            <a:srgbClr val="F2F6FC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E1E1E"/>
                </a:solidFill>
              </a:rPr>
              <a:t>Inner list 2: [3, 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CSC51 • Week 1 • Slide 3 • Source: PythonTutorial.pdf p.41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A4A"/>
                </a:solidFill>
              </a:rPr>
              <a:t>Positive and Negative Indexing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Positive index: starts at 0 (first element)</a:t>
            </a:r>
          </a:p>
          <a:p>
            <a:pPr>
              <a:spcAft>
                <a:spcPts val="1000"/>
              </a:spcAft>
              <a:defRPr sz="2000"/>
            </a:pPr>
            <a:r>
              <a:t>Negative index: starts at -1 (last element)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37960" y="1234440"/>
            <a:ext cx="5074920" cy="4480560"/>
          </a:xfrm>
          <a:prstGeom prst="roundRect">
            <a:avLst/>
          </a:prstGeom>
          <a:solidFill>
            <a:srgbClr val="1E222D"/>
          </a:solidFill>
          <a:ln>
            <a:solidFill>
              <a:srgbClr val="1E2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/>
            <a:r>
              <a:rPr sz="1500">
                <a:solidFill>
                  <a:srgbClr val="FFFFFF"/>
                </a:solidFill>
                <a:latin typeface="Consolas"/>
              </a:rPr>
              <a:t>my_list = [10, 20, 30, 40]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print(my_list[0])  # 10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print(my_list[-1])  #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CSC51 • Week 1 •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A4A"/>
                </a:solidFill>
              </a:rPr>
              <a:t>Indexing Visual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Visualize list as a line of items</a:t>
            </a:r>
          </a:p>
          <a:p>
            <a:pPr>
              <a:spcAft>
                <a:spcPts val="1000"/>
              </a:spcAft>
              <a:defRPr sz="2000"/>
            </a:pPr>
            <a:r>
              <a:t>Index 0 is the first item, index -1 is the last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37960" y="1554480"/>
            <a:ext cx="2331720" cy="3383280"/>
          </a:xfrm>
          <a:prstGeom prst="roundRect">
            <a:avLst/>
          </a:prstGeom>
          <a:solidFill>
            <a:srgbClr val="F2F6FC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/>
            </a:pPr>
            <a:r>
              <a:t>Positive index: 0, 1, 2,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554480"/>
            <a:ext cx="2331720" cy="3383280"/>
          </a:xfrm>
          <a:prstGeom prst="roundRect">
            <a:avLst/>
          </a:prstGeom>
          <a:solidFill>
            <a:srgbClr val="F2F6FC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/>
            </a:pPr>
            <a:r>
              <a:t>Negative index: -1, -2, -3, 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CSC51 • Week 1 •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A4A"/>
                </a:solidFill>
              </a:rPr>
              <a:t>Changing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Assign values to specific indices</a:t>
            </a:r>
          </a:p>
          <a:p>
            <a:pPr>
              <a:spcAft>
                <a:spcPts val="1000"/>
              </a:spcAft>
              <a:defRPr sz="2000"/>
            </a:pPr>
            <a:r>
              <a:t>Add items with append()</a:t>
            </a:r>
          </a:p>
          <a:p>
            <a:pPr>
              <a:spcAft>
                <a:spcPts val="1000"/>
              </a:spcAft>
              <a:defRPr sz="2000"/>
            </a:pPr>
            <a:r>
              <a:t>Insert items with insert()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37960" y="1234440"/>
            <a:ext cx="5074920" cy="4480560"/>
          </a:xfrm>
          <a:prstGeom prst="roundRect">
            <a:avLst/>
          </a:prstGeom>
          <a:solidFill>
            <a:srgbClr val="1E222D"/>
          </a:solidFill>
          <a:ln>
            <a:solidFill>
              <a:srgbClr val="1E2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/>
            <a:r>
              <a:rPr sz="1500">
                <a:solidFill>
                  <a:srgbClr val="FFFFFF"/>
                </a:solidFill>
                <a:latin typeface="Consolas"/>
              </a:rPr>
              <a:t>my_list = [1, 2, 3]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my_list[1] = 4  # Change index 1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my_list.append(5)  # Add at end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my_list.insert(2, 6)  # Insert at position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CSC51 • Week 1 •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A4A"/>
                </a:solidFill>
              </a:rPr>
              <a:t>Guided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Support: Change one element</a:t>
            </a:r>
          </a:p>
          <a:p>
            <a:pPr>
              <a:spcAft>
                <a:spcPts val="1000"/>
              </a:spcAft>
              <a:defRPr sz="2000"/>
            </a:pPr>
            <a:r>
              <a:t>Core: Add and change elements</a:t>
            </a:r>
          </a:p>
          <a:p>
            <a:pPr>
              <a:spcAft>
                <a:spcPts val="1000"/>
              </a:spcAft>
              <a:defRPr sz="2000"/>
            </a:pPr>
            <a:r>
              <a:t>Challenge: Insert and remove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CSC51 • Week 1 •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A4A"/>
                </a:solidFill>
              </a:rPr>
              <a:t>Progress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What is a nested list?</a:t>
            </a:r>
          </a:p>
          <a:p>
            <a:pPr>
              <a:spcAft>
                <a:spcPts val="1000"/>
              </a:spcAft>
              <a:defRPr sz="2000"/>
            </a:pPr>
            <a:r>
              <a:t>How do you get the last element of a list?</a:t>
            </a:r>
          </a:p>
          <a:p>
            <a:pPr>
              <a:spcAft>
                <a:spcPts val="1000"/>
              </a:spcAft>
              <a:defRPr sz="2000"/>
            </a:pPr>
            <a:r>
              <a:t>How do you add an element to the end of a list?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CSC51 • Week 1 •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A4A"/>
                </a:solidFill>
              </a:rPr>
              <a:t>Lesson Focus: Sorting Lists with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Implement Bubble Sort algorithm using built-in list methods</a:t>
            </a:r>
          </a:p>
          <a:p>
            <a:pPr>
              <a:spcAft>
                <a:spcPts val="1000"/>
              </a:spcAft>
              <a:defRPr sz="2000"/>
            </a:pPr>
            <a:r>
              <a:t>Use sort(), reverse(), and len() to organize and inspect list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CSC51 • Week 1 •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A4A"/>
                </a:solidFill>
              </a:rPr>
              <a:t>Bubble Sort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Compare adjacent values in the list</a:t>
            </a:r>
          </a:p>
          <a:p>
            <a:pPr>
              <a:spcAft>
                <a:spcPts val="1000"/>
              </a:spcAft>
              <a:defRPr sz="2000"/>
            </a:pPr>
            <a:r>
              <a:t>Swap values if they are out of order</a:t>
            </a:r>
          </a:p>
          <a:p>
            <a:pPr>
              <a:spcAft>
                <a:spcPts val="1000"/>
              </a:spcAft>
              <a:defRPr sz="2000"/>
            </a:pPr>
            <a:r>
              <a:t>Repeat passes until the list is sorted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37960" y="1920240"/>
            <a:ext cx="1581912" cy="1234440"/>
          </a:xfrm>
          <a:prstGeom prst="roundRect">
            <a:avLst/>
          </a:prstGeom>
          <a:solidFill>
            <a:srgbClr val="F2F6FC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1E1E"/>
                </a:solidFill>
              </a:rPr>
              <a:t>Step 1: Compare first two elements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8074152" y="2331720"/>
            <a:ext cx="228600" cy="320040"/>
          </a:xfrm>
          <a:prstGeom prst="rightArrow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0" y="1920240"/>
            <a:ext cx="1581912" cy="1234440"/>
          </a:xfrm>
          <a:prstGeom prst="roundRect">
            <a:avLst/>
          </a:prstGeom>
          <a:solidFill>
            <a:srgbClr val="F2F6FC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1E1E"/>
                </a:solidFill>
              </a:rPr>
              <a:t>Step 2: Swap if needed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9765792" y="2331720"/>
            <a:ext cx="228600" cy="320040"/>
          </a:xfrm>
          <a:prstGeom prst="rightArrow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921240" y="1920240"/>
            <a:ext cx="1581912" cy="1234440"/>
          </a:xfrm>
          <a:prstGeom prst="roundRect">
            <a:avLst/>
          </a:prstGeom>
          <a:solidFill>
            <a:srgbClr val="F2F6FC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1E1E"/>
                </a:solidFill>
              </a:rPr>
              <a:t>Step 3: Move to next pair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CSC51 • Week 1 •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A4A"/>
                </a:solidFill>
              </a:rPr>
              <a:t>Bubble Sort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Example list: [5, 2, 9, 1]</a:t>
            </a:r>
          </a:p>
          <a:p>
            <a:pPr>
              <a:spcAft>
                <a:spcPts val="1000"/>
              </a:spcAft>
              <a:defRPr sz="2000"/>
            </a:pPr>
            <a:r>
              <a:t>Pass 1: Compare 5 and 2 → swap → [2, 5, 9, 1]</a:t>
            </a:r>
          </a:p>
          <a:p>
            <a:pPr>
              <a:spcAft>
                <a:spcPts val="1000"/>
              </a:spcAft>
              <a:defRPr sz="2000"/>
            </a:pPr>
            <a:r>
              <a:t>Pass 1: Compare 5 and 9 → no swap → [2, 5, 9, 1]</a:t>
            </a:r>
          </a:p>
          <a:p>
            <a:pPr>
              <a:spcAft>
                <a:spcPts val="1000"/>
              </a:spcAft>
              <a:defRPr sz="2000"/>
            </a:pPr>
            <a:r>
              <a:t>Pass 1: Compare 9 and 1 → swap → [2, 5, 1, 9]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37960" y="1234440"/>
            <a:ext cx="5074920" cy="4480560"/>
          </a:xfrm>
          <a:prstGeom prst="roundRect">
            <a:avLst/>
          </a:prstGeom>
          <a:solidFill>
            <a:srgbClr val="1E222D"/>
          </a:solidFill>
          <a:ln>
            <a:solidFill>
              <a:srgbClr val="1E2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/>
            <a:r>
              <a:rPr sz="1500">
                <a:solidFill>
                  <a:srgbClr val="FFFFFF"/>
                </a:solidFill>
                <a:latin typeface="Consolas"/>
              </a:rPr>
              <a:t>original_list = [5, 2, 9, 1]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swapped = True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while swapped: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    swapped = False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    for i in range(len(original_list)-1):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        if original_list[i] &gt; original_list[i+1]: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            original_list[i], original_list[i+1] = original_list[i+1], original_list[i]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            swapped =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CSC51 • Week 1 •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A4A"/>
                </a:solidFill>
              </a:rPr>
              <a:t>Python Built-in List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sort() - Sorts the list in ascending order</a:t>
            </a:r>
          </a:p>
          <a:p>
            <a:pPr>
              <a:spcAft>
                <a:spcPts val="1000"/>
              </a:spcAft>
              <a:defRPr sz="2000"/>
            </a:pPr>
            <a:r>
              <a:t>reverse() - Reverses the list in place</a:t>
            </a:r>
          </a:p>
          <a:p>
            <a:pPr>
              <a:spcAft>
                <a:spcPts val="1000"/>
              </a:spcAft>
              <a:defRPr sz="2000"/>
            </a:pPr>
            <a:r>
              <a:t>len() - Returns the number of elements in the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37960" y="1234440"/>
            <a:ext cx="5074920" cy="4480560"/>
          </a:xfrm>
          <a:prstGeom prst="roundRect">
            <a:avLst/>
          </a:prstGeom>
          <a:solidFill>
            <a:srgbClr val="1E222D"/>
          </a:solidFill>
          <a:ln>
            <a:solidFill>
              <a:srgbClr val="1E2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/>
            <a:r>
              <a:rPr sz="1500">
                <a:solidFill>
                  <a:srgbClr val="FFFFFF"/>
                </a:solidFill>
                <a:latin typeface="Consolas"/>
              </a:rPr>
              <a:t>numbers = [3, 1, 4, 2]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numbers.sort()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print(numbers)  # Output: [1, 2, 3, 4]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numbers.reverse()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print(numbers)  # Output: [4, 3, 2, 1]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print(len(numbers))  # Output: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CSC51 • Week 1 • Slide 12 • Source: PythonTutorial.pdf p.38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A4A"/>
                </a:solidFill>
              </a:rPr>
              <a:t>Guided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Try sorting [7, 3, 1, 5] using sort()</a:t>
            </a:r>
          </a:p>
          <a:p>
            <a:pPr>
              <a:spcAft>
                <a:spcPts val="1000"/>
              </a:spcAft>
              <a:defRPr sz="2000"/>
            </a:pPr>
            <a:r>
              <a:t>Reverse the list using reverse()</a:t>
            </a:r>
          </a:p>
          <a:p>
            <a:pPr>
              <a:spcAft>
                <a:spcPts val="1000"/>
              </a:spcAft>
              <a:defRPr sz="2000"/>
            </a:pPr>
            <a:r>
              <a:t>Check the length with len()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37960" y="1234440"/>
            <a:ext cx="5074920" cy="4480560"/>
          </a:xfrm>
          <a:prstGeom prst="roundRect">
            <a:avLst/>
          </a:prstGeom>
          <a:solidFill>
            <a:srgbClr val="1E222D"/>
          </a:solidFill>
          <a:ln>
            <a:solidFill>
              <a:srgbClr val="1E2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/>
            <a:r>
              <a:rPr sz="1500">
                <a:solidFill>
                  <a:srgbClr val="FFFFFF"/>
                </a:solidFill>
                <a:latin typeface="Consolas"/>
              </a:rPr>
              <a:t>numbers = [7, 3, 1, 5]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numbers.sort()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numbers.reverse()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print(len(numbers))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CSC51 • Week 1 •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A4A"/>
                </a:solidFill>
              </a:rPr>
              <a:t>Differentiated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Support: Sort [4, 2] and print the result</a:t>
            </a:r>
          </a:p>
          <a:p>
            <a:pPr>
              <a:spcAft>
                <a:spcPts val="1000"/>
              </a:spcAft>
              <a:defRPr sz="2000"/>
            </a:pPr>
            <a:r>
              <a:t>Core: Reverse [10, 20, 30] and check length</a:t>
            </a:r>
          </a:p>
          <a:p>
            <a:pPr>
              <a:spcAft>
                <a:spcPts val="1000"/>
              </a:spcAft>
              <a:defRPr sz="2000"/>
            </a:pPr>
            <a:r>
              <a:t>Challenge: Sort [5, 1, 4, 2] and reverse the sorted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37960" y="1234440"/>
            <a:ext cx="5074920" cy="4480560"/>
          </a:xfrm>
          <a:prstGeom prst="roundRect">
            <a:avLst/>
          </a:prstGeom>
          <a:solidFill>
            <a:srgbClr val="1E222D"/>
          </a:solidFill>
          <a:ln>
            <a:solidFill>
              <a:srgbClr val="1E2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/>
            <a:r>
              <a:rPr sz="1500">
                <a:solidFill>
                  <a:srgbClr val="FFFFFF"/>
                </a:solidFill>
                <a:latin typeface="Consolas"/>
              </a:rPr>
              <a:t>support = [4, 2]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support.sort()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print(support)</a:t>
            </a:r>
            <a:br/>
            <a:br/>
            <a:r>
              <a:rPr sz="1500">
                <a:solidFill>
                  <a:srgbClr val="FFFFFF"/>
                </a:solidFill>
                <a:latin typeface="Consolas"/>
              </a:rPr>
              <a:t>core = [10, 20, 30]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core.reverse()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print(len(core))</a:t>
            </a:r>
            <a:br/>
            <a:br/>
            <a:r>
              <a:rPr sz="1500">
                <a:solidFill>
                  <a:srgbClr val="FFFFFF"/>
                </a:solidFill>
                <a:latin typeface="Consolas"/>
              </a:rPr>
              <a:t>challenge = [5, 1, 4, 2]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challenge.sort()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challenge.reverse()</a:t>
            </a:r>
            <a:br/>
            <a:r>
              <a:rPr sz="1500">
                <a:solidFill>
                  <a:srgbClr val="FFFFFF"/>
                </a:solidFill>
                <a:latin typeface="Consolas"/>
              </a:rPr>
              <a:t>print(challenge)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CSC51 • Week 1 •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A4A"/>
                </a:solidFill>
              </a:rPr>
              <a:t>Progress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What is the output of len([1, 2, 3])?</a:t>
            </a:r>
          </a:p>
          <a:p>
            <a:pPr>
              <a:spcAft>
                <a:spcPts val="1000"/>
              </a:spcAft>
              <a:defRPr sz="2000"/>
            </a:pPr>
            <a:r>
              <a:t>How does sort() differ from Bubble Sort?</a:t>
            </a:r>
          </a:p>
          <a:p>
            <a:pPr>
              <a:spcAft>
                <a:spcPts val="1000"/>
              </a:spcAft>
              <a:defRPr sz="2000"/>
            </a:pPr>
            <a:r>
              <a:t>What happens when you call reverse() on a list?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CSC51 • Week 1 • Slide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